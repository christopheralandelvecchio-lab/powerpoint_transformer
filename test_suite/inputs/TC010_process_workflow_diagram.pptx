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C010 Title"/>
          <p:cNvSpPr txBox="1"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/>
              <a:t>Order Fulfillment Process</a:t>
            </a:r>
          </a:p>
        </p:txBody>
      </p:sp>
      <p:sp>
        <p:nvSpPr>
          <p:cNvPr id="3" name="TC010 Lane Customer"/>
          <p:cNvSpPr/>
          <p:nvPr/>
        </p:nvSpPr>
        <p:spPr>
          <a:xfrm rot="16200000">
            <a:off x="274320" y="822960"/>
            <a:ext cx="685800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Customer</a:t>
            </a:r>
          </a:p>
        </p:txBody>
      </p:sp>
      <p:sp>
        <p:nvSpPr>
          <p:cNvPr id="4" name="TC010 Lane Sales"/>
          <p:cNvSpPr/>
          <p:nvPr/>
        </p:nvSpPr>
        <p:spPr>
          <a:xfrm rot="16200000">
            <a:off x="274320" y="1874519"/>
            <a:ext cx="685800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Sales</a:t>
            </a:r>
          </a:p>
        </p:txBody>
      </p:sp>
      <p:sp>
        <p:nvSpPr>
          <p:cNvPr id="5" name="TC010 Lane Warehouse"/>
          <p:cNvSpPr/>
          <p:nvPr/>
        </p:nvSpPr>
        <p:spPr>
          <a:xfrm rot="16200000">
            <a:off x="274320" y="3154680"/>
            <a:ext cx="685800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Warehouse</a:t>
            </a:r>
          </a:p>
        </p:txBody>
      </p:sp>
      <p:sp>
        <p:nvSpPr>
          <p:cNvPr id="6" name="TC010 Lane Shipping"/>
          <p:cNvSpPr/>
          <p:nvPr/>
        </p:nvSpPr>
        <p:spPr>
          <a:xfrm rot="16200000">
            <a:off x="274320" y="4526280"/>
            <a:ext cx="685800" cy="96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Shipping</a:t>
            </a:r>
          </a:p>
        </p:txBody>
      </p:sp>
      <p:cxnSp>
        <p:nvCxnSpPr>
          <p:cNvPr id="7" name="TC010 Swimlane Divider 0.85"/>
          <p:cNvCxnSpPr/>
          <p:nvPr/>
        </p:nvCxnSpPr>
        <p:spPr>
          <a:xfrm>
            <a:off x="274320" y="777240"/>
            <a:ext cx="7955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C010 Swimlane Divider 1.95"/>
          <p:cNvCxnSpPr/>
          <p:nvPr/>
        </p:nvCxnSpPr>
        <p:spPr>
          <a:xfrm>
            <a:off x="274320" y="1783080"/>
            <a:ext cx="7955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C010 Swimlane Divider 3.35"/>
          <p:cNvCxnSpPr/>
          <p:nvPr/>
        </p:nvCxnSpPr>
        <p:spPr>
          <a:xfrm>
            <a:off x="274320" y="3063240"/>
            <a:ext cx="7955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C010 Swimlane Divider 4.85"/>
          <p:cNvCxnSpPr/>
          <p:nvPr/>
        </p:nvCxnSpPr>
        <p:spPr>
          <a:xfrm>
            <a:off x="274320" y="4434840"/>
            <a:ext cx="7955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C010 Swimlane Divider 6.15"/>
          <p:cNvCxnSpPr/>
          <p:nvPr/>
        </p:nvCxnSpPr>
        <p:spPr>
          <a:xfrm>
            <a:off x="274320" y="5623560"/>
            <a:ext cx="7955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C010 Start"/>
          <p:cNvSpPr/>
          <p:nvPr/>
        </p:nvSpPr>
        <p:spPr>
          <a:xfrm>
            <a:off x="1143000" y="1051560"/>
            <a:ext cx="82296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Start</a:t>
            </a:r>
          </a:p>
        </p:txBody>
      </p:sp>
      <p:sp>
        <p:nvSpPr>
          <p:cNvPr id="13" name="TC010 Place Order"/>
          <p:cNvSpPr/>
          <p:nvPr/>
        </p:nvSpPr>
        <p:spPr>
          <a:xfrm>
            <a:off x="2240280" y="1005840"/>
            <a:ext cx="10058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Place Order</a:t>
            </a:r>
          </a:p>
        </p:txBody>
      </p:sp>
      <p:sp>
        <p:nvSpPr>
          <p:cNvPr id="14" name="TC010 Receive Confirmation"/>
          <p:cNvSpPr/>
          <p:nvPr/>
        </p:nvSpPr>
        <p:spPr>
          <a:xfrm>
            <a:off x="3657600" y="1005840"/>
            <a:ext cx="128016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Receive Order</a:t>
            </a:r>
          </a:p>
          <a:p>
            <a:pPr algn="ctr"/>
            <a:r>
              <a:rPr sz="700" b="0"/>
              <a:t>Confirmation</a:t>
            </a:r>
          </a:p>
        </p:txBody>
      </p:sp>
      <p:sp>
        <p:nvSpPr>
          <p:cNvPr id="15" name="TC010 End"/>
          <p:cNvSpPr/>
          <p:nvPr/>
        </p:nvSpPr>
        <p:spPr>
          <a:xfrm>
            <a:off x="6309360" y="1051560"/>
            <a:ext cx="73152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End</a:t>
            </a:r>
          </a:p>
        </p:txBody>
      </p:sp>
      <p:sp>
        <p:nvSpPr>
          <p:cNvPr id="16" name="TC010 Validate Order"/>
          <p:cNvSpPr/>
          <p:nvPr/>
        </p:nvSpPr>
        <p:spPr>
          <a:xfrm>
            <a:off x="2240280" y="20574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Validate Order</a:t>
            </a:r>
          </a:p>
        </p:txBody>
      </p:sp>
      <p:sp>
        <p:nvSpPr>
          <p:cNvPr id="17" name="TC010 Order Valid Decision"/>
          <p:cNvSpPr/>
          <p:nvPr/>
        </p:nvSpPr>
        <p:spPr>
          <a:xfrm>
            <a:off x="2377440" y="2743200"/>
            <a:ext cx="822960" cy="64008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Order</a:t>
            </a:r>
          </a:p>
          <a:p>
            <a:pPr algn="ctr"/>
            <a:r>
              <a:rPr sz="700" b="0"/>
              <a:t>Valid?</a:t>
            </a:r>
          </a:p>
        </p:txBody>
      </p:sp>
      <p:sp>
        <p:nvSpPr>
          <p:cNvPr id="18" name="TC010 Notify Customer"/>
          <p:cNvSpPr/>
          <p:nvPr/>
        </p:nvSpPr>
        <p:spPr>
          <a:xfrm>
            <a:off x="5120640" y="2606040"/>
            <a:ext cx="11887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Notify Customer</a:t>
            </a:r>
          </a:p>
        </p:txBody>
      </p:sp>
      <p:sp>
        <p:nvSpPr>
          <p:cNvPr id="19" name="TC010 Send to Warehouse"/>
          <p:cNvSpPr/>
          <p:nvPr/>
        </p:nvSpPr>
        <p:spPr>
          <a:xfrm>
            <a:off x="2148840" y="3566160"/>
            <a:ext cx="128016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Send to</a:t>
            </a:r>
          </a:p>
          <a:p>
            <a:pPr algn="ctr"/>
            <a:r>
              <a:rPr sz="800" b="0"/>
              <a:t>Warehouse</a:t>
            </a:r>
          </a:p>
        </p:txBody>
      </p:sp>
      <p:sp>
        <p:nvSpPr>
          <p:cNvPr id="20" name="TC010 Pick Items"/>
          <p:cNvSpPr/>
          <p:nvPr/>
        </p:nvSpPr>
        <p:spPr>
          <a:xfrm>
            <a:off x="1508760" y="3794760"/>
            <a:ext cx="100584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Pick Items</a:t>
            </a:r>
          </a:p>
        </p:txBody>
      </p:sp>
      <p:sp>
        <p:nvSpPr>
          <p:cNvPr id="21" name="TC010 Pack Items"/>
          <p:cNvSpPr/>
          <p:nvPr/>
        </p:nvSpPr>
        <p:spPr>
          <a:xfrm>
            <a:off x="2743200" y="3794760"/>
            <a:ext cx="100584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Pack Items</a:t>
            </a:r>
          </a:p>
        </p:txBody>
      </p:sp>
      <p:sp>
        <p:nvSpPr>
          <p:cNvPr id="22" name="TC010 Update Inventory"/>
          <p:cNvSpPr/>
          <p:nvPr/>
        </p:nvSpPr>
        <p:spPr>
          <a:xfrm>
            <a:off x="4069080" y="379476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Update</a:t>
            </a:r>
          </a:p>
          <a:p>
            <a:pPr algn="ctr"/>
            <a:r>
              <a:rPr sz="800" b="0"/>
              <a:t>Inventory</a:t>
            </a:r>
          </a:p>
        </p:txBody>
      </p:sp>
      <p:sp>
        <p:nvSpPr>
          <p:cNvPr id="23" name="TC010 Ship Order"/>
          <p:cNvSpPr/>
          <p:nvPr/>
        </p:nvSpPr>
        <p:spPr>
          <a:xfrm>
            <a:off x="2057400" y="489204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Ship Order</a:t>
            </a:r>
          </a:p>
        </p:txBody>
      </p:sp>
      <p:sp>
        <p:nvSpPr>
          <p:cNvPr id="24" name="TC010 Provide Tracking"/>
          <p:cNvSpPr/>
          <p:nvPr/>
        </p:nvSpPr>
        <p:spPr>
          <a:xfrm>
            <a:off x="3840480" y="4892040"/>
            <a:ext cx="1371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Provide Tracking</a:t>
            </a:r>
          </a:p>
          <a:p>
            <a:pPr algn="ctr"/>
            <a:r>
              <a:rPr sz="700" b="0"/>
              <a:t>Information</a:t>
            </a:r>
          </a:p>
        </p:txBody>
      </p:sp>
      <p:sp>
        <p:nvSpPr>
          <p:cNvPr id="25" name="TC010 Yes Label"/>
          <p:cNvSpPr txBox="1"/>
          <p:nvPr/>
        </p:nvSpPr>
        <p:spPr>
          <a:xfrm>
            <a:off x="3154680" y="32461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/>
              <a:t>Yes</a:t>
            </a:r>
          </a:p>
        </p:txBody>
      </p:sp>
      <p:sp>
        <p:nvSpPr>
          <p:cNvPr id="26" name="TC010 No Label"/>
          <p:cNvSpPr txBox="1"/>
          <p:nvPr/>
        </p:nvSpPr>
        <p:spPr>
          <a:xfrm>
            <a:off x="3886200" y="27889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/>
              <a:t>No</a:t>
            </a:r>
          </a:p>
        </p:txBody>
      </p:sp>
      <p:cxnSp>
        <p:nvCxnSpPr>
          <p:cNvPr id="27" name="TC010 Start to Place"/>
          <p:cNvCxnSpPr/>
          <p:nvPr/>
        </p:nvCxnSpPr>
        <p:spPr>
          <a:xfrm>
            <a:off x="1965960" y="1261872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C010 Place to Confirmation"/>
          <p:cNvCxnSpPr/>
          <p:nvPr/>
        </p:nvCxnSpPr>
        <p:spPr>
          <a:xfrm>
            <a:off x="3246120" y="1261872"/>
            <a:ext cx="411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C010 Place to Validate"/>
          <p:cNvCxnSpPr/>
          <p:nvPr/>
        </p:nvCxnSpPr>
        <p:spPr>
          <a:xfrm>
            <a:off x="2743200" y="1508760"/>
            <a:ext cx="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C010 Validate to Decision"/>
          <p:cNvCxnSpPr/>
          <p:nvPr/>
        </p:nvCxnSpPr>
        <p:spPr>
          <a:xfrm>
            <a:off x="2743200" y="2514600"/>
            <a:ext cx="0" cy="22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C010 Decision to Notify"/>
          <p:cNvCxnSpPr/>
          <p:nvPr/>
        </p:nvCxnSpPr>
        <p:spPr>
          <a:xfrm flipV="1">
            <a:off x="3200400" y="2880360"/>
            <a:ext cx="192024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C010 Decision to Warehouse"/>
          <p:cNvCxnSpPr/>
          <p:nvPr/>
        </p:nvCxnSpPr>
        <p:spPr>
          <a:xfrm>
            <a:off x="2743200" y="338328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C010 Send to Pick"/>
          <p:cNvCxnSpPr/>
          <p:nvPr/>
        </p:nvCxnSpPr>
        <p:spPr>
          <a:xfrm>
            <a:off x="2148840" y="3822191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TC010 Pick to Pack"/>
          <p:cNvCxnSpPr/>
          <p:nvPr/>
        </p:nvCxnSpPr>
        <p:spPr>
          <a:xfrm>
            <a:off x="2514600" y="4023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C010 Pack to Inventory"/>
          <p:cNvCxnSpPr/>
          <p:nvPr/>
        </p:nvCxnSpPr>
        <p:spPr>
          <a:xfrm>
            <a:off x="3749039" y="4023360"/>
            <a:ext cx="3200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C010 Inventory to Ship"/>
          <p:cNvCxnSpPr/>
          <p:nvPr/>
        </p:nvCxnSpPr>
        <p:spPr>
          <a:xfrm flipH="1">
            <a:off x="2606040" y="4251960"/>
            <a:ext cx="201168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TC010 Ship to Tracking"/>
          <p:cNvCxnSpPr/>
          <p:nvPr/>
        </p:nvCxnSpPr>
        <p:spPr>
          <a:xfrm>
            <a:off x="3154680" y="5120640"/>
            <a:ext cx="68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TC010 Tracking to End"/>
          <p:cNvCxnSpPr/>
          <p:nvPr/>
        </p:nvCxnSpPr>
        <p:spPr>
          <a:xfrm flipV="1">
            <a:off x="5212080" y="1463040"/>
            <a:ext cx="1463040" cy="3657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TC010 Notify to End"/>
          <p:cNvCxnSpPr/>
          <p:nvPr/>
        </p:nvCxnSpPr>
        <p:spPr>
          <a:xfrm flipV="1">
            <a:off x="6309360" y="1463040"/>
            <a:ext cx="365760" cy="1417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