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C008 Title"/>
          <p:cNvSpPr txBox="1"/>
          <p:nvPr/>
        </p:nvSpPr>
        <p:spPr>
          <a:xfrm>
            <a:off x="548640" y="18288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/>
              <a:t>Smart Manufacturing System Architecture</a:t>
            </a:r>
          </a:p>
        </p:txBody>
      </p:sp>
      <p:sp>
        <p:nvSpPr>
          <p:cNvPr id="3" name="TC008 Users Container"/>
          <p:cNvSpPr/>
          <p:nvPr/>
        </p:nvSpPr>
        <p:spPr>
          <a:xfrm>
            <a:off x="365760" y="822960"/>
            <a:ext cx="137160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Users</a:t>
            </a:r>
          </a:p>
          <a:p>
            <a:pPr algn="ctr"/>
            <a:r>
              <a:rPr sz="800" b="0"/>
              <a:t>Engineer | Manager</a:t>
            </a:r>
          </a:p>
        </p:txBody>
      </p:sp>
      <p:sp>
        <p:nvSpPr>
          <p:cNvPr id="4" name="TC008 Internet Cloud"/>
          <p:cNvSpPr/>
          <p:nvPr/>
        </p:nvSpPr>
        <p:spPr>
          <a:xfrm>
            <a:off x="365760" y="2743200"/>
            <a:ext cx="1371600" cy="82296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/>
              <a:t>Internet</a:t>
            </a:r>
          </a:p>
        </p:txBody>
      </p:sp>
      <p:sp>
        <p:nvSpPr>
          <p:cNvPr id="5" name="TC008 Edge Devices"/>
          <p:cNvSpPr/>
          <p:nvPr/>
        </p:nvSpPr>
        <p:spPr>
          <a:xfrm>
            <a:off x="365760" y="4206240"/>
            <a:ext cx="13716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Edge Devices</a:t>
            </a:r>
          </a:p>
          <a:p>
            <a:pPr algn="ctr"/>
            <a:r>
              <a:rPr sz="800" b="0"/>
              <a:t>Sensors, PLCs,</a:t>
            </a:r>
          </a:p>
          <a:p>
            <a:pPr algn="ctr"/>
            <a:r>
              <a:rPr sz="800" b="0"/>
              <a:t>Controllers</a:t>
            </a:r>
          </a:p>
        </p:txBody>
      </p:sp>
      <p:sp>
        <p:nvSpPr>
          <p:cNvPr id="6" name="TC008 Client Applications"/>
          <p:cNvSpPr/>
          <p:nvPr/>
        </p:nvSpPr>
        <p:spPr>
          <a:xfrm>
            <a:off x="2286000" y="822960"/>
            <a:ext cx="283464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/>
              <a:t>Client Applications</a:t>
            </a:r>
          </a:p>
        </p:txBody>
      </p:sp>
      <p:sp>
        <p:nvSpPr>
          <p:cNvPr id="7" name="TC008 Web Portal"/>
          <p:cNvSpPr/>
          <p:nvPr/>
        </p:nvSpPr>
        <p:spPr>
          <a:xfrm>
            <a:off x="2514600" y="1325880"/>
            <a:ext cx="685800" cy="4114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Web</a:t>
            </a:r>
          </a:p>
          <a:p>
            <a:pPr algn="ctr"/>
            <a:r>
              <a:rPr sz="700" b="0"/>
              <a:t>Portal</a:t>
            </a:r>
          </a:p>
        </p:txBody>
      </p:sp>
      <p:sp>
        <p:nvSpPr>
          <p:cNvPr id="8" name="TC008 Mobile App"/>
          <p:cNvSpPr/>
          <p:nvPr/>
        </p:nvSpPr>
        <p:spPr>
          <a:xfrm>
            <a:off x="3337560" y="1325880"/>
            <a:ext cx="685800" cy="4114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Mobile</a:t>
            </a:r>
          </a:p>
          <a:p>
            <a:pPr algn="ctr"/>
            <a:r>
              <a:rPr sz="700" b="0"/>
              <a:t>App</a:t>
            </a:r>
          </a:p>
        </p:txBody>
      </p:sp>
      <p:sp>
        <p:nvSpPr>
          <p:cNvPr id="9" name="TC008 Analytics Dashboard"/>
          <p:cNvSpPr/>
          <p:nvPr/>
        </p:nvSpPr>
        <p:spPr>
          <a:xfrm>
            <a:off x="4160520" y="1325880"/>
            <a:ext cx="777240" cy="4114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Analytics</a:t>
            </a:r>
          </a:p>
          <a:p>
            <a:pPr algn="ctr"/>
            <a:r>
              <a:rPr sz="700" b="0"/>
              <a:t>Dashboard</a:t>
            </a:r>
          </a:p>
        </p:txBody>
      </p:sp>
      <p:sp>
        <p:nvSpPr>
          <p:cNvPr id="10" name="TC008 Application Server"/>
          <p:cNvSpPr/>
          <p:nvPr/>
        </p:nvSpPr>
        <p:spPr>
          <a:xfrm>
            <a:off x="2011680" y="2743200"/>
            <a:ext cx="384048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/>
              <a:t>Application Server</a:t>
            </a:r>
          </a:p>
        </p:txBody>
      </p:sp>
      <p:sp>
        <p:nvSpPr>
          <p:cNvPr id="11" name="TC008 API Gateway"/>
          <p:cNvSpPr/>
          <p:nvPr/>
        </p:nvSpPr>
        <p:spPr>
          <a:xfrm>
            <a:off x="2240280" y="3246120"/>
            <a:ext cx="731520" cy="4114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API</a:t>
            </a:r>
          </a:p>
          <a:p>
            <a:pPr algn="ctr"/>
            <a:r>
              <a:rPr sz="700" b="0"/>
              <a:t>Gateway</a:t>
            </a:r>
          </a:p>
        </p:txBody>
      </p:sp>
      <p:sp>
        <p:nvSpPr>
          <p:cNvPr id="12" name="TC008 Auth Service"/>
          <p:cNvSpPr/>
          <p:nvPr/>
        </p:nvSpPr>
        <p:spPr>
          <a:xfrm>
            <a:off x="3063240" y="3246120"/>
            <a:ext cx="731520" cy="4114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Auth</a:t>
            </a:r>
          </a:p>
          <a:p>
            <a:pPr algn="ctr"/>
            <a:r>
              <a:rPr sz="700" b="0"/>
              <a:t>Service</a:t>
            </a:r>
          </a:p>
        </p:txBody>
      </p:sp>
      <p:sp>
        <p:nvSpPr>
          <p:cNvPr id="13" name="TC008 Business Logic"/>
          <p:cNvSpPr/>
          <p:nvPr/>
        </p:nvSpPr>
        <p:spPr>
          <a:xfrm>
            <a:off x="3886200" y="3246120"/>
            <a:ext cx="822960" cy="4114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Business</a:t>
            </a:r>
          </a:p>
          <a:p>
            <a:pPr algn="ctr"/>
            <a:r>
              <a:rPr sz="700" b="0"/>
              <a:t>Logic</a:t>
            </a:r>
          </a:p>
        </p:txBody>
      </p:sp>
      <p:sp>
        <p:nvSpPr>
          <p:cNvPr id="14" name="TC008 Notification Service"/>
          <p:cNvSpPr/>
          <p:nvPr/>
        </p:nvSpPr>
        <p:spPr>
          <a:xfrm>
            <a:off x="4800600" y="3246120"/>
            <a:ext cx="822960" cy="4114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Notification</a:t>
            </a:r>
          </a:p>
          <a:p>
            <a:pPr algn="ctr"/>
            <a:r>
              <a:rPr sz="700" b="0"/>
              <a:t>Service</a:t>
            </a:r>
          </a:p>
        </p:txBody>
      </p:sp>
      <p:sp>
        <p:nvSpPr>
          <p:cNvPr id="15" name="TC008 Database"/>
          <p:cNvSpPr/>
          <p:nvPr/>
        </p:nvSpPr>
        <p:spPr>
          <a:xfrm>
            <a:off x="2468880" y="4526280"/>
            <a:ext cx="1097280" cy="82296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Database</a:t>
            </a:r>
          </a:p>
          <a:p>
            <a:pPr algn="ctr"/>
            <a:r>
              <a:rPr sz="800" b="0"/>
              <a:t>(PostgreSQL)</a:t>
            </a:r>
          </a:p>
        </p:txBody>
      </p:sp>
      <p:sp>
        <p:nvSpPr>
          <p:cNvPr id="16" name="TC008 File Storage"/>
          <p:cNvSpPr/>
          <p:nvPr/>
        </p:nvSpPr>
        <p:spPr>
          <a:xfrm>
            <a:off x="4297680" y="4526280"/>
            <a:ext cx="1097280" cy="82296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File Storage</a:t>
            </a:r>
          </a:p>
          <a:p>
            <a:pPr algn="ctr"/>
            <a:r>
              <a:rPr sz="800" b="0"/>
              <a:t>(S3 Compatible)</a:t>
            </a:r>
          </a:p>
        </p:txBody>
      </p:sp>
      <p:sp>
        <p:nvSpPr>
          <p:cNvPr id="17" name="TC008 External Systems"/>
          <p:cNvSpPr/>
          <p:nvPr/>
        </p:nvSpPr>
        <p:spPr>
          <a:xfrm>
            <a:off x="6309360" y="822960"/>
            <a:ext cx="146304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External Systems</a:t>
            </a:r>
          </a:p>
        </p:txBody>
      </p:sp>
      <p:sp>
        <p:nvSpPr>
          <p:cNvPr id="18" name="TC008 ERP System"/>
          <p:cNvSpPr/>
          <p:nvPr/>
        </p:nvSpPr>
        <p:spPr>
          <a:xfrm>
            <a:off x="6492240" y="1143000"/>
            <a:ext cx="1097280" cy="274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ERP System</a:t>
            </a:r>
          </a:p>
        </p:txBody>
      </p:sp>
      <p:sp>
        <p:nvSpPr>
          <p:cNvPr id="19" name="TC008 CRM System"/>
          <p:cNvSpPr/>
          <p:nvPr/>
        </p:nvSpPr>
        <p:spPr>
          <a:xfrm>
            <a:off x="6492240" y="1508760"/>
            <a:ext cx="1097280" cy="274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CRM System</a:t>
            </a:r>
          </a:p>
        </p:txBody>
      </p:sp>
      <p:sp>
        <p:nvSpPr>
          <p:cNvPr id="20" name="TC008 Supplier Portal"/>
          <p:cNvSpPr/>
          <p:nvPr/>
        </p:nvSpPr>
        <p:spPr>
          <a:xfrm>
            <a:off x="6492240" y="1874519"/>
            <a:ext cx="1097280" cy="274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Supplier Portal</a:t>
            </a:r>
          </a:p>
        </p:txBody>
      </p:sp>
      <p:sp>
        <p:nvSpPr>
          <p:cNvPr id="21" name="TC008 Security"/>
          <p:cNvSpPr/>
          <p:nvPr/>
        </p:nvSpPr>
        <p:spPr>
          <a:xfrm>
            <a:off x="6400800" y="2743200"/>
            <a:ext cx="128016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Security</a:t>
            </a:r>
          </a:p>
          <a:p>
            <a:pPr algn="ctr"/>
            <a:r>
              <a:rPr sz="800" b="0"/>
              <a:t>OAuth 2.0</a:t>
            </a:r>
          </a:p>
          <a:p>
            <a:pPr algn="ctr"/>
            <a:r>
              <a:rPr sz="800" b="0"/>
              <a:t>SSL/TLS</a:t>
            </a:r>
          </a:p>
        </p:txBody>
      </p:sp>
      <p:sp>
        <p:nvSpPr>
          <p:cNvPr id="22" name="TC008 Legend"/>
          <p:cNvSpPr/>
          <p:nvPr/>
        </p:nvSpPr>
        <p:spPr>
          <a:xfrm>
            <a:off x="5669280" y="4937760"/>
            <a:ext cx="21031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Legend</a:t>
            </a:r>
          </a:p>
          <a:p>
            <a:pPr algn="ctr"/>
            <a:r>
              <a:rPr sz="700" b="0"/>
              <a:t>Solid = Data Flow</a:t>
            </a:r>
          </a:p>
          <a:p>
            <a:pPr algn="ctr"/>
            <a:r>
              <a:rPr sz="700" b="0"/>
              <a:t>Dashed = Control/Auth</a:t>
            </a:r>
          </a:p>
        </p:txBody>
      </p:sp>
      <p:cxnSp>
        <p:nvCxnSpPr>
          <p:cNvPr id="23" name="TC008 Users to Apps"/>
          <p:cNvCxnSpPr/>
          <p:nvPr/>
        </p:nvCxnSpPr>
        <p:spPr>
          <a:xfrm>
            <a:off x="1737360" y="1417320"/>
            <a:ext cx="54864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C008 Internet to Server"/>
          <p:cNvCxnSpPr/>
          <p:nvPr/>
        </p:nvCxnSpPr>
        <p:spPr>
          <a:xfrm>
            <a:off x="1737360" y="315468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C008 Edge to Internet"/>
          <p:cNvCxnSpPr/>
          <p:nvPr/>
        </p:nvCxnSpPr>
        <p:spPr>
          <a:xfrm flipV="1">
            <a:off x="1051560" y="3566160"/>
            <a:ext cx="0" cy="64008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C008 Apps to Server"/>
          <p:cNvCxnSpPr/>
          <p:nvPr/>
        </p:nvCxnSpPr>
        <p:spPr>
          <a:xfrm>
            <a:off x="3657600" y="201168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C008 Server to Database"/>
          <p:cNvCxnSpPr/>
          <p:nvPr/>
        </p:nvCxnSpPr>
        <p:spPr>
          <a:xfrm>
            <a:off x="2926080" y="3931920"/>
            <a:ext cx="0" cy="594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C008 Server to Storage"/>
          <p:cNvCxnSpPr/>
          <p:nvPr/>
        </p:nvCxnSpPr>
        <p:spPr>
          <a:xfrm>
            <a:off x="4846320" y="3931920"/>
            <a:ext cx="0" cy="594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C008 Apps to External"/>
          <p:cNvCxnSpPr/>
          <p:nvPr/>
        </p:nvCxnSpPr>
        <p:spPr>
          <a:xfrm>
            <a:off x="5120640" y="1417320"/>
            <a:ext cx="11887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C008 Server to Security"/>
          <p:cNvCxnSpPr/>
          <p:nvPr/>
        </p:nvCxnSpPr>
        <p:spPr>
          <a:xfrm>
            <a:off x="5852160" y="3246120"/>
            <a:ext cx="548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C008 Security to External"/>
          <p:cNvCxnSpPr/>
          <p:nvPr/>
        </p:nvCxnSpPr>
        <p:spPr>
          <a:xfrm flipV="1">
            <a:off x="7040880" y="2286000"/>
            <a:ext cx="0" cy="45720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C008 Users to Internet"/>
          <p:cNvCxnSpPr/>
          <p:nvPr/>
        </p:nvCxnSpPr>
        <p:spPr>
          <a:xfrm>
            <a:off x="1051560" y="2011680"/>
            <a:ext cx="0" cy="7315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